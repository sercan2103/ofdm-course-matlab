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731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587"/>
            <a:ext cx="9144000" cy="137731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7175"/>
            <a:ext cx="9144000" cy="137731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85762"/>
            <a:ext cx="9144000" cy="137731"/>
          </a:xfrm>
          <a:prstGeom prst="rect">
            <a:avLst/>
          </a:prstGeom>
          <a:solidFill>
            <a:srgbClr val="0E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14350"/>
            <a:ext cx="9144000" cy="137731"/>
          </a:xfrm>
          <a:prstGeom prst="rect">
            <a:avLst/>
          </a:prstGeom>
          <a:solidFill>
            <a:srgbClr val="0E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2937"/>
            <a:ext cx="9144000" cy="137731"/>
          </a:xfrm>
          <a:prstGeom prst="rect">
            <a:avLst/>
          </a:prstGeom>
          <a:solidFill>
            <a:srgbClr val="0F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771525"/>
            <a:ext cx="9144000" cy="137731"/>
          </a:xfrm>
          <a:prstGeom prst="rect">
            <a:avLst/>
          </a:prstGeom>
          <a:solidFill>
            <a:srgbClr val="0F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900112"/>
            <a:ext cx="9144000" cy="137731"/>
          </a:xfrm>
          <a:prstGeom prst="rect">
            <a:avLst/>
          </a:prstGeom>
          <a:solidFill>
            <a:srgbClr val="0F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028700"/>
            <a:ext cx="9144000" cy="137731"/>
          </a:xfrm>
          <a:prstGeom prst="rect">
            <a:avLst/>
          </a:prstGeom>
          <a:solidFill>
            <a:srgbClr val="10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157287"/>
            <a:ext cx="9144000" cy="137731"/>
          </a:xfrm>
          <a:prstGeom prst="rect">
            <a:avLst/>
          </a:prstGeom>
          <a:solidFill>
            <a:srgbClr val="10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285875"/>
            <a:ext cx="9144000" cy="137731"/>
          </a:xfrm>
          <a:prstGeom prst="rect">
            <a:avLst/>
          </a:prstGeom>
          <a:solidFill>
            <a:srgbClr val="11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414462"/>
            <a:ext cx="9144000" cy="137731"/>
          </a:xfrm>
          <a:prstGeom prst="rect">
            <a:avLst/>
          </a:prstGeom>
          <a:solidFill>
            <a:srgbClr val="11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543050"/>
            <a:ext cx="9144000" cy="137731"/>
          </a:xfrm>
          <a:prstGeom prst="rect">
            <a:avLst/>
          </a:prstGeom>
          <a:solidFill>
            <a:srgbClr val="11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1671637"/>
            <a:ext cx="9144000" cy="137731"/>
          </a:xfrm>
          <a:prstGeom prst="rect">
            <a:avLst/>
          </a:prstGeom>
          <a:solidFill>
            <a:srgbClr val="12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00225"/>
            <a:ext cx="9144000" cy="137731"/>
          </a:xfrm>
          <a:prstGeom prst="rect">
            <a:avLst/>
          </a:prstGeom>
          <a:solidFill>
            <a:srgbClr val="12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928812"/>
            <a:ext cx="9144000" cy="137731"/>
          </a:xfrm>
          <a:prstGeom prst="rect">
            <a:avLst/>
          </a:prstGeom>
          <a:solidFill>
            <a:srgbClr val="13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057400"/>
            <a:ext cx="9144000" cy="137731"/>
          </a:xfrm>
          <a:prstGeom prst="rect">
            <a:avLst/>
          </a:prstGeom>
          <a:solidFill>
            <a:srgbClr val="13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185987"/>
            <a:ext cx="9144000" cy="137731"/>
          </a:xfrm>
          <a:prstGeom prst="rect">
            <a:avLst/>
          </a:prstGeom>
          <a:solidFill>
            <a:srgbClr val="13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314575"/>
            <a:ext cx="9144000" cy="137731"/>
          </a:xfrm>
          <a:prstGeom prst="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443162"/>
            <a:ext cx="9144000" cy="137731"/>
          </a:xfrm>
          <a:prstGeom prst="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2571750"/>
            <a:ext cx="9144000" cy="137731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700337"/>
            <a:ext cx="9144000" cy="137731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828925"/>
            <a:ext cx="9144000" cy="137731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2957512"/>
            <a:ext cx="9144000" cy="137731"/>
          </a:xfrm>
          <a:prstGeom prst="rect">
            <a:avLst/>
          </a:prstGeom>
          <a:solidFill>
            <a:srgbClr val="16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086100"/>
            <a:ext cx="9144000" cy="137731"/>
          </a:xfrm>
          <a:prstGeom prst="rect">
            <a:avLst/>
          </a:prstGeom>
          <a:solidFill>
            <a:srgbClr val="16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214687"/>
            <a:ext cx="9144000" cy="137731"/>
          </a:xfrm>
          <a:prstGeom prst="rect">
            <a:avLst/>
          </a:prstGeom>
          <a:solidFill>
            <a:srgbClr val="171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3343275"/>
            <a:ext cx="9144000" cy="137731"/>
          </a:xfrm>
          <a:prstGeom prst="rect">
            <a:avLst/>
          </a:prstGeom>
          <a:solidFill>
            <a:srgbClr val="171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3471862"/>
            <a:ext cx="9144000" cy="137731"/>
          </a:xfrm>
          <a:prstGeom prst="rect">
            <a:avLst/>
          </a:prstGeom>
          <a:solidFill>
            <a:srgbClr val="171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3600450"/>
            <a:ext cx="9144000" cy="137731"/>
          </a:xfrm>
          <a:prstGeom prst="rect">
            <a:avLst/>
          </a:prstGeom>
          <a:solidFill>
            <a:srgbClr val="181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3729037"/>
            <a:ext cx="9144000" cy="137731"/>
          </a:xfrm>
          <a:prstGeom prst="rect">
            <a:avLst/>
          </a:prstGeom>
          <a:solidFill>
            <a:srgbClr val="181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3857625"/>
            <a:ext cx="9144000" cy="137731"/>
          </a:xfrm>
          <a:prstGeom prst="rect">
            <a:avLst/>
          </a:prstGeom>
          <a:solidFill>
            <a:srgbClr val="19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3986212"/>
            <a:ext cx="9144000" cy="137731"/>
          </a:xfrm>
          <a:prstGeom prst="rect">
            <a:avLst/>
          </a:prstGeom>
          <a:solidFill>
            <a:srgbClr val="19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4114800"/>
            <a:ext cx="9144000" cy="137731"/>
          </a:xfrm>
          <a:prstGeom prst="rect">
            <a:avLst/>
          </a:prstGeom>
          <a:solidFill>
            <a:srgbClr val="19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4243387"/>
            <a:ext cx="9144000" cy="137731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4371975"/>
            <a:ext cx="9144000" cy="137731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4500562"/>
            <a:ext cx="9144000" cy="137731"/>
          </a:xfrm>
          <a:prstGeom prst="rect">
            <a:avLst/>
          </a:prstGeom>
          <a:solidFill>
            <a:srgbClr val="1B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4629150"/>
            <a:ext cx="9144000" cy="137731"/>
          </a:xfrm>
          <a:prstGeom prst="rect">
            <a:avLst/>
          </a:prstGeom>
          <a:solidFill>
            <a:srgbClr val="1B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4757737"/>
            <a:ext cx="9144000" cy="137731"/>
          </a:xfrm>
          <a:prstGeom prst="rect">
            <a:avLst/>
          </a:prstGeom>
          <a:solidFill>
            <a:srgbClr val="1B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4886325"/>
            <a:ext cx="9144000" cy="137731"/>
          </a:xfrm>
          <a:prstGeom prst="rect">
            <a:avLst/>
          </a:prstGeom>
          <a:solidFill>
            <a:srgbClr val="1C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5014912"/>
            <a:ext cx="9144000" cy="137731"/>
          </a:xfrm>
          <a:prstGeom prst="rect">
            <a:avLst/>
          </a:prstGeom>
          <a:solidFill>
            <a:srgbClr val="1C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8960"/>
            <a:ext cx="9144000" cy="201168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High-Doppler OFDM Receiver Design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0" y="2212848"/>
            <a:ext cx="457200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2200" b="0" i="1">
                <a:solidFill>
                  <a:srgbClr val="00B4D8"/>
                </a:solidFill>
                <a:latin typeface="Calibri"/>
              </a:rPr>
              <a:t>Beating the Tier-1 Baseline at fₙ = 3000 Hz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3017520"/>
            <a:ext cx="8229600" cy="34747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800" b="0" i="0">
                <a:solidFill>
                  <a:srgbClr val="C9D6DF"/>
                </a:solidFill>
                <a:latin typeface="Calibri"/>
              </a:rPr>
              <a:t>Kemal Sercan İlhan — 22050211002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3383280"/>
            <a:ext cx="8229600" cy="34747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600" b="0" i="0">
                <a:solidFill>
                  <a:srgbClr val="C9D6DF"/>
                </a:solidFill>
                <a:latin typeface="Calibri"/>
              </a:rPr>
              <a:t>OFDM Spring 2026 — Term Project  |  June 12,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" y="4846320"/>
            <a:ext cx="731520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100" b="0" i="0">
                <a:solidFill>
                  <a:srgbClr val="C9D6DF"/>
                </a:solidFill>
                <a:latin typeface="Calibri"/>
              </a:rPr>
              <a:t>Kemal Sercan İlhan — OFDM Spring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r"/>
            <a:r>
              <a:rPr sz="1100" b="0" i="0">
                <a:solidFill>
                  <a:srgbClr val="C9D6D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Mission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85800"/>
            <a:ext cx="850392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846320"/>
            <a:ext cx="731520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100" b="0" i="0">
                <a:solidFill>
                  <a:srgbClr val="C9D6DF"/>
                </a:solidFill>
                <a:latin typeface="Calibri"/>
              </a:rPr>
              <a:t>Kemal Sercan İlhan — OFDM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r"/>
            <a:r>
              <a:rPr sz="1100" b="0" i="0">
                <a:solidFill>
                  <a:srgbClr val="C9D6DF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95528"/>
            <a:ext cx="3749039" cy="26060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3474720" cy="34747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What we are given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One OFDM frame (10 symbols, QPSK, uncoded)</a:t>
            </a:r>
          </a:p>
          <a:p>
            <a:pPr algn="l">
              <a:buChar char="▸"/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FPV_C drone channel: 4 taps, Jakes, fₙ up to 3000 Hz</a:t>
            </a:r>
          </a:p>
          <a:p>
            <a:pPr algn="l">
              <a:buChar char="▸"/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Residual STO: ±32 samples</a:t>
            </a:r>
          </a:p>
          <a:p>
            <a:pPr algn="l">
              <a:buChar char="▸"/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Residual CFO: ±12 kHz</a:t>
            </a:r>
          </a:p>
          <a:p>
            <a:pPr algn="l">
              <a:buChar char="▸"/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AWGN sweep: 0–30 dB Eb/N0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795528"/>
            <a:ext cx="4663440" cy="26060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841248"/>
            <a:ext cx="4297680" cy="34747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  <a:latin typeface="Calibri"/>
              </a:rPr>
              <a:t>What we must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207008"/>
            <a:ext cx="4297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ofdm_rx(rx_samples, params) → bits</a:t>
            </a:r>
          </a:p>
          <a:p>
            <a:pPr algn="l">
              <a:buChar char="▸"/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Beat the Tier-1 baseline at fₙ = 3000 Hz</a:t>
            </a:r>
          </a:p>
          <a:p>
            <a:pPr algn="l">
              <a:buChar char="▸"/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Low operation count (profiler-graded)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474720"/>
            <a:ext cx="8595360" cy="1463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3429000"/>
            <a:ext cx="2743200" cy="22860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200" b="0" i="0">
                <a:solidFill>
                  <a:srgbClr val="C9D6DF"/>
                </a:solidFill>
                <a:latin typeface="Calibri"/>
              </a:rPr>
              <a:t>TX 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29000"/>
            <a:ext cx="2286000" cy="22860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200" b="0" i="0">
                <a:solidFill>
                  <a:srgbClr val="FF9E00"/>
                </a:solidFill>
                <a:latin typeface="Calibri"/>
              </a:rPr>
              <a:t>Impairments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429000"/>
            <a:ext cx="1828800" cy="22860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Your Receiver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Why Tier-1 Fails at fₙ = 3000 Hz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85800"/>
            <a:ext cx="8503920" cy="228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846320"/>
            <a:ext cx="731520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100" b="0" i="0">
                <a:solidFill>
                  <a:srgbClr val="C9D6DF"/>
                </a:solidFill>
                <a:latin typeface="Calibri"/>
              </a:rPr>
              <a:t>Kemal Sercan İlhan — OFDM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r"/>
            <a:r>
              <a:rPr sz="1100" b="0" i="0">
                <a:solidFill>
                  <a:srgbClr val="C9D6DF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4389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dense_4sym: pilots only on symbols {0, 3, 6, 9}</a:t>
            </a:r>
          </a:p>
          <a:p>
            <a:pPr algn="l">
              <a:buChar char="▸"/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Gap between pilot symbols = 3 symbols = 130 µs</a:t>
            </a:r>
          </a:p>
          <a:p>
            <a:pPr algn="l">
              <a:buChar char="▸"/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Jakes correlation: J₀(2π × 3000 × 130µs) ≈ 0</a:t>
            </a:r>
          </a:p>
          <a:p>
            <a:pPr algn="l">
              <a:buChar char="▸"/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Channel fully decorrelated — no interpolation can bridge this gap</a:t>
            </a:r>
          </a:p>
          <a:p>
            <a:pPr algn="l">
              <a:buChar char="▸"/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Result: ~7.5% BER floor at 30 dB regardless of SNR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749808"/>
            <a:ext cx="4389120" cy="118872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011680"/>
            <a:ext cx="4389120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3246120"/>
            <a:ext cx="4206240" cy="73152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3291840"/>
            <a:ext cx="4023360" cy="6400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300" b="1" i="0">
                <a:solidFill>
                  <a:srgbClr val="08121C"/>
                </a:solidFill>
                <a:latin typeface="Calibri"/>
              </a:rPr>
              <a:t>Zero correlation between pilot snapshots
= interpolation is blind = irreducible error floor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Our Approach: M2 + M3 + M4 Combined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85800"/>
            <a:ext cx="850392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846320"/>
            <a:ext cx="731520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100" b="0" i="0">
                <a:solidFill>
                  <a:srgbClr val="C9D6DF"/>
                </a:solidFill>
                <a:latin typeface="Calibri"/>
              </a:rPr>
              <a:t>Kemal Sercan İlhan — OFDM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r"/>
            <a:r>
              <a:rPr sz="1100" b="0" i="0">
                <a:solidFill>
                  <a:srgbClr val="C9D6DF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77240"/>
            <a:ext cx="1883664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22960"/>
            <a:ext cx="1783080" cy="338328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400" b="1" i="0">
                <a:solidFill>
                  <a:srgbClr val="08121C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777240"/>
            <a:ext cx="2523744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288" y="822960"/>
            <a:ext cx="2423160" cy="338328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400" b="1" i="0">
                <a:solidFill>
                  <a:srgbClr val="08121C"/>
                </a:solidFill>
                <a:latin typeface="Calibri"/>
              </a:rPr>
              <a:t>Method Used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777240"/>
            <a:ext cx="3712463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4608" y="822960"/>
            <a:ext cx="3611879" cy="338328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400" b="1" i="0">
                <a:solidFill>
                  <a:srgbClr val="08121C"/>
                </a:solidFill>
                <a:latin typeface="Calibri"/>
              </a:rPr>
              <a:t>Key Idea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188720"/>
            <a:ext cx="1883664" cy="3840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234440"/>
            <a:ext cx="1783080" cy="338328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Residual STO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1188720"/>
            <a:ext cx="2523744" cy="3840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4288" y="1234440"/>
            <a:ext cx="2423160" cy="338328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M3 — Phase-slope estimator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1188720"/>
            <a:ext cx="3712463" cy="3840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8" y="1234440"/>
            <a:ext cx="3611879" cy="338328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Linear phase ramp → fit slope across pilots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600200"/>
            <a:ext cx="1883664" cy="38404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1645920"/>
            <a:ext cx="1783080" cy="338328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Residual CFO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40280" y="1600200"/>
            <a:ext cx="2523744" cy="38404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04288" y="1645920"/>
            <a:ext cx="2423160" cy="338328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M2 — Van de Beek CP correlation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1600200"/>
            <a:ext cx="3712463" cy="38404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4608" y="1645920"/>
            <a:ext cx="3611879" cy="338328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CP is copy of tail → phase shift = CFO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011680"/>
            <a:ext cx="1883664" cy="3840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2057400"/>
            <a:ext cx="1783080" cy="338328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Doppler tracking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0280" y="2011680"/>
            <a:ext cx="2523744" cy="3840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04288" y="2057400"/>
            <a:ext cx="2423160" cy="338328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Pilot rearrangement + Wiener smoother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00600" y="2011680"/>
            <a:ext cx="3712463" cy="3840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4608" y="2057400"/>
            <a:ext cx="3611879" cy="338328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Comb pilots every symbol → J₀ ≈ 0.84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423160"/>
            <a:ext cx="1883664" cy="38404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2468879"/>
            <a:ext cx="1783080" cy="338328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ICI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40280" y="2423160"/>
            <a:ext cx="2523744" cy="38404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04288" y="2468879"/>
            <a:ext cx="2423160" cy="338328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M4 — Decision-directed cancellation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00600" y="2423160"/>
            <a:ext cx="3712463" cy="38404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64608" y="2468879"/>
            <a:ext cx="3611879" cy="338328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Subtract estimated ICI before re-equalizing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383280"/>
            <a:ext cx="859536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Pilot Pattern Rearrangement: comb_10sym_64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85800"/>
            <a:ext cx="8503920" cy="228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846320"/>
            <a:ext cx="731520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100" b="0" i="0">
                <a:solidFill>
                  <a:srgbClr val="C9D6DF"/>
                </a:solidFill>
                <a:latin typeface="Calibri"/>
              </a:rPr>
              <a:t>Kemal Sercan İlhan — OFDM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r"/>
            <a:r>
              <a:rPr sz="1100" b="0" i="0">
                <a:solidFill>
                  <a:srgbClr val="C9D6DF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dense_4sym: 4 pilot symbols, gap = 130 µs, J₀ ≈ 0</a:t>
            </a:r>
          </a:p>
          <a:p>
            <a:pPr algn="l">
              <a:buChar char="▸"/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comb_10sym_64: all 10 symbols carry pilots, gap = 43 µs, J₀ ≈ 0.84</a:t>
            </a:r>
          </a:p>
          <a:p>
            <a:pPr algn="l">
              <a:buChar char="▸"/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64-pilot cap respected: even RBs 3/RB, odd RBs 2/RB</a:t>
            </a:r>
          </a:p>
          <a:p>
            <a:pPr algn="l">
              <a:buChar char="▸"/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Average pilot spacing: 4.9 SCs (down from 6 SCs)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749808"/>
            <a:ext cx="4663440" cy="329184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0"/>
            <a:ext cx="3931920" cy="1005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3840480"/>
            <a:ext cx="8595360" cy="5029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886200"/>
            <a:ext cx="8412480" cy="411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700" b="1" i="0">
                <a:solidFill>
                  <a:srgbClr val="27AE60"/>
                </a:solidFill>
                <a:latin typeface="Calibri"/>
              </a:rPr>
              <a:t>"This single change eliminated the Doppler dead zone."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Residual STO and CFO Correction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85800"/>
            <a:ext cx="850392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846320"/>
            <a:ext cx="731520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100" b="0" i="0">
                <a:solidFill>
                  <a:srgbClr val="C9D6DF"/>
                </a:solidFill>
                <a:latin typeface="Calibri"/>
              </a:rPr>
              <a:t>Kemal Sercan İlhan — OFDM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r"/>
            <a:r>
              <a:rPr sz="1100" b="0" i="0">
                <a:solidFill>
                  <a:srgbClr val="C9D6DF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26280" y="749808"/>
            <a:ext cx="36576" cy="3931920"/>
          </a:xfrm>
          <a:prstGeom prst="rect">
            <a:avLst/>
          </a:prstGeom>
          <a:solidFill>
            <a:srgbClr val="C9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777240"/>
            <a:ext cx="4023360" cy="384048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STO — Phase-slope Estimator (M3)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88720"/>
            <a:ext cx="4069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STO of δ samples → phase ramp e^{-j2πkδ/N} across subcarriers</a:t>
            </a:r>
          </a:p>
          <a:p>
            <a:pPr algn="l">
              <a:buChar char="▸"/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Measure Δφ between adjacent pilots: Δφ = -2π·Δk·δ/N</a:t>
            </a:r>
          </a:p>
          <a:p>
            <a:pPr algn="l">
              <a:buChar char="▸"/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Average over all 64 pilot pairs × 10 symbols</a:t>
            </a:r>
          </a:p>
          <a:p>
            <a:pPr algn="l">
              <a:buChar char="▸"/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Range: ±128 samples ≫ spec ±32 ✓</a:t>
            </a:r>
          </a:p>
          <a:p>
            <a:pPr algn="l">
              <a:buChar char="▸"/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Why not CP correlator? → flat-top ambiguity for small offsets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926080"/>
            <a:ext cx="411480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7720" y="777240"/>
            <a:ext cx="4297680" cy="384048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600" b="1" i="0">
                <a:solidFill>
                  <a:srgbClr val="FF9E00"/>
                </a:solidFill>
                <a:latin typeface="Calibri"/>
              </a:rPr>
              <a:t>CFO — Van de Beek (M2)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18872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CFO rotates every sample → CP and data tail differ by e^{j2πΔf·N/Fs}</a:t>
            </a:r>
          </a:p>
          <a:p>
            <a:pPr algn="l">
              <a:buChar char="▸"/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Correlate CP against tail, extract angle, average 10 symbols</a:t>
            </a:r>
          </a:p>
          <a:p>
            <a:pPr algn="l">
              <a:buChar char="▸"/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Range: ±15 kHz ≫ spec ±12 kHz ✓</a:t>
            </a:r>
          </a:p>
          <a:p>
            <a:pPr algn="l">
              <a:buChar char="▸"/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Unbiased under multipath (all taps within CP = 288 samples)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926080"/>
            <a:ext cx="429768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Doppler-Aware Channel Estimation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85800"/>
            <a:ext cx="8503920" cy="228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846320"/>
            <a:ext cx="731520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100" b="0" i="0">
                <a:solidFill>
                  <a:srgbClr val="C9D6DF"/>
                </a:solidFill>
                <a:latin typeface="Calibri"/>
              </a:rPr>
              <a:t>Kemal Sercan İlhan — OFDM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r"/>
            <a:r>
              <a:rPr sz="1100" b="0" i="0">
                <a:solidFill>
                  <a:srgbClr val="C9D6DF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41148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Baseline: LS at pilots → spline freq. interp → nearest-neighbour in time</a:t>
            </a:r>
          </a:p>
          <a:p>
            <a:pPr algn="l">
              <a:buChar char="▸"/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Upgrade: Wiener temporal smoother before spline interpolation</a:t>
            </a:r>
          </a:p>
          <a:p>
            <a:pPr algn="l">
              <a:buChar char="▸"/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Temporal correlation: R_HH(i,j) = J₀(2π·fₙ·|i−j|·T_sym)</a:t>
            </a:r>
          </a:p>
          <a:p>
            <a:pPr algn="l">
              <a:buChar char="▸"/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Smoother: W = R_HH · (R_HH + σ²I)⁻¹</a:t>
            </a:r>
          </a:p>
          <a:p>
            <a:pPr algn="l">
              <a:buChar char="▸"/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Applied to 64-pilot × 10-symbol LS matrix</a:t>
            </a:r>
          </a:p>
          <a:p>
            <a:pPr algn="l">
              <a:buChar char="▸"/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σ² = 5×10⁻⁴ tuned to 30 dB grading point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246120"/>
            <a:ext cx="8595360" cy="1691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4956048"/>
            <a:ext cx="8503920" cy="22860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100" b="0" i="1">
                <a:solidFill>
                  <a:srgbClr val="C9D6DF"/>
                </a:solidFill>
                <a:latin typeface="Calibri"/>
              </a:rPr>
              <a:t>At fₙ=0: W averages all 10 symbols → noise ↓√10.  At fₙ=3000: W follows Jakes variation while suppressing noise.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926080"/>
            <a:ext cx="4114800" cy="256032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944368"/>
            <a:ext cx="3931920" cy="219456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W = R_HH  ·  (R_HH + σ²I)⁻¹   where  R_HH(i,j) = J₀(2π·fₙ·|i−j|·T_sym)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ICI-Aware Equalization (M4)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85800"/>
            <a:ext cx="8503920" cy="228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846320"/>
            <a:ext cx="731520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100" b="0" i="0">
                <a:solidFill>
                  <a:srgbClr val="C9D6DF"/>
                </a:solidFill>
                <a:latin typeface="Calibri"/>
              </a:rPr>
              <a:t>Kemal Sercan İlhan — OFDM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r"/>
            <a:r>
              <a:rPr sz="1100" b="0" i="0">
                <a:solidFill>
                  <a:srgbClr val="C9D6DF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At fₙ=3000 Hz: channel changes within one symbol (Tᵤ ≈ 33 µs)</a:t>
            </a:r>
          </a:p>
          <a:p>
            <a:pPr algn="l">
              <a:buChar char="▸"/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Time-varying H → subcarriers leak into each other (ICI)</a:t>
            </a:r>
          </a:p>
          <a:p>
            <a:pPr algn="l">
              <a:buChar char="▸"/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ICI model: Y[k] = Hₐᵥᵏ[k]·X[k] + Σ dH[k−Δk]·w(Δk)·X[k−Δk] + noise</a:t>
            </a:r>
          </a:p>
          <a:p>
            <a:pPr algn="l">
              <a:buChar char="▸"/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ICI weights: w(Δk) = 1 / (N · (e^{−j2πΔk/N} − 1))</a:t>
            </a:r>
          </a:p>
          <a:p>
            <a:pPr algn="l">
              <a:buChar char="▸"/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Algorithm: ZF → hard decisions → estimate dH → subtract ICI → re-equalize</a:t>
            </a:r>
          </a:p>
          <a:p>
            <a:pPr algn="l">
              <a:buChar char="▸"/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Q = 6 neighbours each side → captures ~94% of ICI energy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749808"/>
            <a:ext cx="4206240" cy="39776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3493008"/>
            <a:ext cx="4572000" cy="32004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1">
                <a:solidFill>
                  <a:srgbClr val="C9D6DF"/>
                </a:solidFill>
                <a:latin typeface="Calibri"/>
              </a:rPr>
              <a:t>Weights decay as 1/(2π|Δk|) — most ICI from nearest neighbours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840480"/>
            <a:ext cx="4389120" cy="9144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3886200"/>
            <a:ext cx="4160520" cy="82296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1. ZF:  X_zf = Y / H
2. Hard decide:  X_dec = sign(real) + j·sign(imag)
3. dH = central diff of H snapshots
4. Y_corr = Y − Σₗ dH·w(Δk)·X_dec   (Δk=−6..+6)
5. X_hat = Y_corr / 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Results: 7.5× Better than Tier-1 at fₙ = 3000 Hz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85800"/>
            <a:ext cx="8503920" cy="228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846320"/>
            <a:ext cx="731520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100" b="0" i="0">
                <a:solidFill>
                  <a:srgbClr val="C9D6DF"/>
                </a:solidFill>
                <a:latin typeface="Calibri"/>
              </a:rPr>
              <a:t>Kemal Sercan İlhan — OFDM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r"/>
            <a:r>
              <a:rPr sz="1100" b="0" i="0">
                <a:solidFill>
                  <a:srgbClr val="C9D6DF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6035040" cy="3657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120640" y="777240"/>
            <a:ext cx="749808" cy="41147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57216" y="832103"/>
            <a:ext cx="704088" cy="34747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200" b="1" i="0">
                <a:solidFill>
                  <a:srgbClr val="08121C"/>
                </a:solidFill>
                <a:latin typeface="Calibri"/>
              </a:rPr>
              <a:t>fₙ (Hz)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79" y="777240"/>
            <a:ext cx="1207008" cy="41147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832103"/>
            <a:ext cx="1161288" cy="34747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200" b="1" i="0">
                <a:solidFill>
                  <a:srgbClr val="08121C"/>
                </a:solidFill>
                <a:latin typeface="Calibri"/>
              </a:rPr>
              <a:t>Tier-1 @ 30 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777240"/>
            <a:ext cx="1207008" cy="41147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68896" y="832103"/>
            <a:ext cx="1161288" cy="34747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200" b="1" i="0">
                <a:solidFill>
                  <a:srgbClr val="08121C"/>
                </a:solidFill>
                <a:latin typeface="Calibri"/>
              </a:rPr>
              <a:t>Ours @ 30 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777240"/>
            <a:ext cx="658368" cy="41147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832103"/>
            <a:ext cx="612648" cy="34747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200" b="1" i="0">
                <a:solidFill>
                  <a:srgbClr val="08121C"/>
                </a:solidFill>
                <a:latin typeface="Calibri"/>
              </a:rPr>
              <a:t>Gain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216152"/>
            <a:ext cx="749808" cy="411479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7216" y="1271016"/>
            <a:ext cx="704088" cy="34747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1000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79" y="1216152"/>
            <a:ext cx="1207008" cy="411479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34455" y="1271016"/>
            <a:ext cx="1161288" cy="34747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1.54×10⁻²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1216152"/>
            <a:ext cx="1207008" cy="411479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68896" y="1271016"/>
            <a:ext cx="1161288" cy="34747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3.26×10⁻³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1216152"/>
            <a:ext cx="658368" cy="411479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1271016"/>
            <a:ext cx="612648" cy="34747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4.7×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1655064"/>
            <a:ext cx="749808" cy="411479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57216" y="1709928"/>
            <a:ext cx="704088" cy="34747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2000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97879" y="1655064"/>
            <a:ext cx="1207008" cy="411479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34455" y="1709928"/>
            <a:ext cx="1161288" cy="34747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4.50×10⁻²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1655064"/>
            <a:ext cx="1207008" cy="411479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68896" y="1709928"/>
            <a:ext cx="1161288" cy="34747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5.53×10⁻³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60" y="1655064"/>
            <a:ext cx="658368" cy="411479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3336" y="1709928"/>
            <a:ext cx="612648" cy="34747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8.1×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2093976"/>
            <a:ext cx="749808" cy="411479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57216" y="2148840"/>
            <a:ext cx="704088" cy="34747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  <a:latin typeface="Calibri"/>
              </a:rPr>
              <a:t>3000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97879" y="2093976"/>
            <a:ext cx="1207008" cy="411479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34455" y="2148840"/>
            <a:ext cx="1161288" cy="34747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  <a:latin typeface="Calibri"/>
              </a:rPr>
              <a:t>7.53×10⁻²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2093976"/>
            <a:ext cx="1207008" cy="411479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68896" y="2148840"/>
            <a:ext cx="1161288" cy="34747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  <a:latin typeface="Calibri"/>
              </a:rPr>
              <a:t>9.99×10⁻³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6760" y="2093976"/>
            <a:ext cx="658368" cy="411479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03336" y="2148840"/>
            <a:ext cx="612648" cy="34747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  <a:latin typeface="Calibri"/>
              </a:rPr>
              <a:t>7.5×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2606040"/>
            <a:ext cx="2697480" cy="1005840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2651760"/>
            <a:ext cx="2651760" cy="5029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4200" b="1" i="0">
                <a:solidFill>
                  <a:srgbClr val="27AE60"/>
                </a:solidFill>
                <a:latin typeface="Calibri"/>
              </a:rPr>
              <a:t>7.5×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3154680"/>
            <a:ext cx="2651760" cy="411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200" b="0" i="0">
                <a:solidFill>
                  <a:srgbClr val="C9D6DF"/>
                </a:solidFill>
                <a:latin typeface="Calibri"/>
              </a:rPr>
              <a:t>better than Tier-1
at fₙ = 3000 Hz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Complexity: ~5.7×10⁷ MACs/frame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85800"/>
            <a:ext cx="850392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846320"/>
            <a:ext cx="731520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100" b="0" i="0">
                <a:solidFill>
                  <a:srgbClr val="C9D6DF"/>
                </a:solidFill>
                <a:latin typeface="Calibri"/>
              </a:rPr>
              <a:t>Kemal Sercan İlhan — OFDM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r"/>
            <a:r>
              <a:rPr sz="1100" b="0" i="0">
                <a:solidFill>
                  <a:srgbClr val="C9D6DF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77240"/>
            <a:ext cx="2304288" cy="35661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841247"/>
            <a:ext cx="2240279" cy="292607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1" i="0">
                <a:solidFill>
                  <a:srgbClr val="08121C"/>
                </a:solidFill>
                <a:latin typeface="Calibri"/>
              </a:rPr>
              <a:t>Function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777240"/>
            <a:ext cx="749808" cy="35661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79" y="841247"/>
            <a:ext cx="685800" cy="292607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1" i="0">
                <a:solidFill>
                  <a:srgbClr val="08121C"/>
                </a:solidFill>
                <a:latin typeface="Calibri"/>
              </a:rPr>
              <a:t>Time (s)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777240"/>
            <a:ext cx="521207" cy="35661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841247"/>
            <a:ext cx="457200" cy="292607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1" i="0">
                <a:solidFill>
                  <a:srgbClr val="08121C"/>
                </a:solidFill>
                <a:latin typeface="Calibri"/>
              </a:rPr>
              <a:t>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161288"/>
            <a:ext cx="2304288" cy="356616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9" y="1225296"/>
            <a:ext cx="2240279" cy="292607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sto_estimate_correct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161288"/>
            <a:ext cx="749808" cy="356616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79" y="1225296"/>
            <a:ext cx="685800" cy="292607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0.042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1161288"/>
            <a:ext cx="521207" cy="356616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225296"/>
            <a:ext cx="457200" cy="292607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46%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545336"/>
            <a:ext cx="2304288" cy="356616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9" y="1609344"/>
            <a:ext cx="2240279" cy="292607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channel_estimate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1545336"/>
            <a:ext cx="749808" cy="356616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79" y="1609344"/>
            <a:ext cx="685800" cy="292607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0.030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1545336"/>
            <a:ext cx="521207" cy="356616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1609344"/>
            <a:ext cx="457200" cy="292607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33%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929384"/>
            <a:ext cx="2304288" cy="356616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59" y="1993391"/>
            <a:ext cx="2240279" cy="292607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equalize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1929384"/>
            <a:ext cx="749808" cy="356616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79" y="1993391"/>
            <a:ext cx="685800" cy="292607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0.010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9000" y="1929384"/>
            <a:ext cx="521207" cy="356616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1993391"/>
            <a:ext cx="457200" cy="292607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11%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313432"/>
            <a:ext cx="2304288" cy="356616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59" y="2377439"/>
            <a:ext cx="2240279" cy="292607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cfo + cp + demap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2313432"/>
            <a:ext cx="749808" cy="356616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97479" y="2377439"/>
            <a:ext cx="685800" cy="292607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0.008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29000" y="2313432"/>
            <a:ext cx="521207" cy="356616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2377439"/>
            <a:ext cx="457200" cy="292607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9%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697480"/>
            <a:ext cx="2304288" cy="356616"/>
          </a:xfrm>
          <a:prstGeom prst="rect">
            <a:avLst/>
          </a:prstGeom>
          <a:solidFill>
            <a:srgbClr val="153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59" y="2761488"/>
            <a:ext cx="2240279" cy="292607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2697480"/>
            <a:ext cx="749808" cy="356616"/>
          </a:xfrm>
          <a:prstGeom prst="rect">
            <a:avLst/>
          </a:prstGeom>
          <a:solidFill>
            <a:srgbClr val="153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79" y="2761488"/>
            <a:ext cx="685800" cy="292607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0.091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29000" y="2697480"/>
            <a:ext cx="521207" cy="356616"/>
          </a:xfrm>
          <a:prstGeom prst="rect">
            <a:avLst/>
          </a:prstGeom>
          <a:solidFill>
            <a:srgbClr val="153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0" y="2761488"/>
            <a:ext cx="457200" cy="292607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777240"/>
            <a:ext cx="4846320" cy="384048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600" b="1" i="0">
                <a:solidFill>
                  <a:srgbClr val="FF9E00"/>
                </a:solidFill>
                <a:latin typeface="Calibri"/>
              </a:rPr>
              <a:t>Op-Count Methodology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11887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flops() removed from MATLAB since R13</a:t>
            </a:r>
          </a:p>
          <a:p>
            <a:pPr algn="l">
              <a:buChar char="▸"/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Calibrated MAC rate: 1.02×10⁹ MACs/s</a:t>
            </a:r>
          </a:p>
          <a:p>
            <a:pPr algn="l">
              <a:buChar char="▸"/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Algorithmic time: 0.056 s (total − rng overhead)</a:t>
            </a:r>
          </a:p>
          <a:p>
            <a:pPr algn="l">
              <a:buChar char="▸"/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Estimated: ~5.7×10⁷ MACs/frame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2788920"/>
            <a:ext cx="4846320" cy="502920"/>
          </a:xfrm>
          <a:prstGeom prst="rect">
            <a:avLst/>
          </a:prstGeom>
          <a:solidFill>
            <a:srgbClr val="20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40" y="2834640"/>
            <a:ext cx="4663440" cy="411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200" b="0" i="0">
                <a:solidFill>
                  <a:srgbClr val="FF9E00"/>
                </a:solidFill>
                <a:latin typeface="Calibri"/>
              </a:rPr>
              <a:t>⚠  Note: STO block shows 35 ms due to rng() seeding overhead — not algorithm cost.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337560"/>
            <a:ext cx="859536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Worked and What Didn't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85800"/>
            <a:ext cx="850392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846320"/>
            <a:ext cx="731520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100" b="0" i="0">
                <a:solidFill>
                  <a:srgbClr val="C9D6DF"/>
                </a:solidFill>
                <a:latin typeface="Calibri"/>
              </a:rPr>
              <a:t>Kemal Sercan İlhan — OFDM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r"/>
            <a:r>
              <a:rPr sz="1100" b="0" i="0">
                <a:solidFill>
                  <a:srgbClr val="C9D6DF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749808"/>
            <a:ext cx="36576" cy="3931920"/>
          </a:xfrm>
          <a:prstGeom prst="rect">
            <a:avLst/>
          </a:prstGeom>
          <a:solidFill>
            <a:srgbClr val="C9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777240"/>
            <a:ext cx="4114800" cy="411480"/>
          </a:xfrm>
          <a:prstGeom prst="rect">
            <a:avLst/>
          </a:prstGeom>
          <a:solidFill>
            <a:srgbClr val="0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04672"/>
            <a:ext cx="3840480" cy="34747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700" b="1" i="0">
                <a:solidFill>
                  <a:srgbClr val="27AE60"/>
                </a:solidFill>
                <a:latin typeface="Calibri"/>
              </a:rPr>
              <a:t>✅  What Worked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234440"/>
            <a:ext cx="4114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Pilot rearrangement → comb_10sym_64 (biggest gain)</a:t>
            </a:r>
          </a:p>
          <a:p>
            <a:pPr algn="l">
              <a:buChar char="▸"/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Van de Beek CFO (M2) — simple, robust, ±15 kHz range</a:t>
            </a:r>
          </a:p>
          <a:p>
            <a:pPr algn="l">
              <a:buChar char="▸"/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Wiener time smoother — +4% complexity, −13–19% BER</a:t>
            </a:r>
          </a:p>
          <a:p>
            <a:pPr algn="l">
              <a:buChar char="▸"/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ICI cancellation Q=6 — captures 94% ICI energy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777240"/>
            <a:ext cx="4206240" cy="411480"/>
          </a:xfrm>
          <a:prstGeom prst="rect">
            <a:avLst/>
          </a:prstGeom>
          <a:solidFill>
            <a:srgbClr val="2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804672"/>
            <a:ext cx="3840480" cy="34747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700" b="1" i="0">
                <a:solidFill>
                  <a:srgbClr val="E74C3C"/>
                </a:solidFill>
                <a:latin typeface="Calibri"/>
              </a:rPr>
              <a:t>❌  Tried and Reverted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234440"/>
            <a:ext cx="4206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MMSE equalizer → σ²→0 (LS absorbs noise, wrong bottleneck)</a:t>
            </a:r>
          </a:p>
          <a:p>
            <a:pPr algn="l">
              <a:buChar char="▸"/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Wiener freq. interpolation → DC gap (711 bins) breaks matrix</a:t>
            </a:r>
          </a:p>
          <a:p>
            <a:pPr algn="l">
              <a:buChar char="▸"/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Pilot-based CFO refinement → adds Doppler noise &gt; residual</a:t>
            </a:r>
          </a:p>
          <a:p>
            <a:pPr algn="l">
              <a:buChar char="▸"/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2nd ICI iteration → −1.3% BER at +40% op-count (bad tradeoff)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886200"/>
            <a:ext cx="8503920" cy="685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931920"/>
            <a:ext cx="8321040" cy="59436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0" i="1">
                <a:solidFill>
                  <a:srgbClr val="C9D6DF"/>
                </a:solidFill>
                <a:latin typeface="Calibri"/>
              </a:rPr>
              <a:t>💡 Key insight: pick the right tool for the right bottleneck. ICI cancellation fixed Doppler-ICI; Wiener fixed time-domain noise; spline is local and gap-agnostic where Wiener-freq broke.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85800"/>
            <a:ext cx="850392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846320"/>
            <a:ext cx="731520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100" b="0" i="0">
                <a:solidFill>
                  <a:srgbClr val="C9D6DF"/>
                </a:solidFill>
                <a:latin typeface="Calibri"/>
              </a:rPr>
              <a:t>Kemal Sercan İlhan — OFDM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r"/>
            <a:r>
              <a:rPr sz="1100" b="0" i="0">
                <a:solidFill>
                  <a:srgbClr val="C9D6DF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  <a:spcAft>
                <a:spcPts val="7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Tier-1 baseline fails because dense_4sym has J₀ ≈ 0 at fₙ=3000 Hz</a:t>
            </a:r>
          </a:p>
          <a:p>
            <a:pPr algn="l">
              <a:buChar char="▸"/>
              <a:spcAft>
                <a:spcPts val="7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Pilot rearrangement to comb_10sym_64 was the single most impactful fix</a:t>
            </a:r>
          </a:p>
          <a:p>
            <a:pPr algn="l">
              <a:buChar char="▸"/>
              <a:spcAft>
                <a:spcPts val="7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Combined M2 (CFO) + M3 (STO+Wiener) + M4 (ICI) beats Tier-1 by 7.5×</a:t>
            </a:r>
          </a:p>
          <a:p>
            <a:pPr algn="l">
              <a:buChar char="▸"/>
              <a:spcAft>
                <a:spcPts val="7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Estimated complexity: ~5.7×10⁷ MACs/frame</a:t>
            </a:r>
          </a:p>
          <a:p>
            <a:pPr algn="l">
              <a:buChar char="▸"/>
              <a:spcAft>
                <a:spcPts val="7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Residual floor: non-linear Jakes variation — limit of linear ICI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897880" y="777240"/>
            <a:ext cx="3017520" cy="2423160"/>
          </a:xfrm>
          <a:prstGeom prst="rect">
            <a:avLst/>
          </a:prstGeom>
          <a:solidFill>
            <a:srgbClr val="052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97880" y="777240"/>
            <a:ext cx="30175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97880" y="3163824"/>
            <a:ext cx="30175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97880" y="777240"/>
            <a:ext cx="36576" cy="2423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78824" y="777240"/>
            <a:ext cx="36576" cy="2423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822960"/>
            <a:ext cx="2926080" cy="34747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500" b="1" i="0">
                <a:solidFill>
                  <a:srgbClr val="27AE60"/>
                </a:solidFill>
                <a:latin typeface="Calibri"/>
              </a:rPr>
              <a:t>Scorecard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170432"/>
            <a:ext cx="2926080" cy="2743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300" b="0" i="0">
                <a:solidFill>
                  <a:srgbClr val="C9D6DF"/>
                </a:solidFill>
                <a:latin typeface="Calibri"/>
              </a:rPr>
              <a:t>fd = 3000 Hz, Eb/N0 = 30 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463040"/>
            <a:ext cx="2834640" cy="36576"/>
          </a:xfrm>
          <a:prstGeom prst="rect">
            <a:avLst/>
          </a:prstGeom>
          <a:solidFill>
            <a:srgbClr val="C9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536192"/>
            <a:ext cx="2926080" cy="32004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400" b="0" i="0">
                <a:solidFill>
                  <a:srgbClr val="E74C3C"/>
                </a:solidFill>
                <a:latin typeface="Calibri"/>
              </a:rPr>
              <a:t>Tier-1:   7.53×10⁻²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874519"/>
            <a:ext cx="2926080" cy="32004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Ours:   9.99×10⁻³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2212848"/>
            <a:ext cx="2834640" cy="27432"/>
          </a:xfrm>
          <a:prstGeom prst="rect">
            <a:avLst/>
          </a:prstGeom>
          <a:solidFill>
            <a:srgbClr val="C9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86000"/>
            <a:ext cx="2926080" cy="5029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2800" b="1" i="0">
                <a:solidFill>
                  <a:srgbClr val="27AE60"/>
                </a:solidFill>
                <a:latin typeface="Calibri"/>
              </a:rPr>
              <a:t>Gain:   7.5×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246120"/>
            <a:ext cx="539496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Anticipated Q&amp;A  (Backup Slide)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85800"/>
            <a:ext cx="8503920" cy="22860"/>
          </a:xfrm>
          <a:prstGeom prst="rect">
            <a:avLst/>
          </a:prstGeom>
          <a:solidFill>
            <a:srgbClr val="C9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846320"/>
            <a:ext cx="731520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ctr"/>
            <a:r>
              <a:rPr sz="1100" b="0" i="0">
                <a:solidFill>
                  <a:srgbClr val="C9D6DF"/>
                </a:solidFill>
                <a:latin typeface="Calibri"/>
              </a:rPr>
              <a:t>Kemal Sercan İlhan — OFDM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r"/>
            <a:r>
              <a:rPr sz="1100" b="0" i="0">
                <a:solidFill>
                  <a:srgbClr val="C9D6DF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77240"/>
            <a:ext cx="3072384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41247"/>
            <a:ext cx="2980944" cy="411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1" i="0">
                <a:solidFill>
                  <a:srgbClr val="08121C"/>
                </a:solidFill>
                <a:latin typeface="Calibri"/>
              </a:rPr>
              <a:t>Question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777240"/>
            <a:ext cx="5266944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7" y="841247"/>
            <a:ext cx="5175504" cy="411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 b="1" i="0">
                <a:solidFill>
                  <a:srgbClr val="08121C"/>
                </a:solidFill>
                <a:latin typeface="Calibri"/>
              </a:rPr>
              <a:t>One-line Answer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80160"/>
            <a:ext cx="3072384" cy="47548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344168"/>
            <a:ext cx="2980944" cy="411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Why did Tier-1 fail?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280160"/>
            <a:ext cx="5266944" cy="47548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8727" y="1344168"/>
            <a:ext cx="5175504" cy="411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J₀≈0 at 130 µs gap — zero correlation, interpolation is blind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783080"/>
            <a:ext cx="3072384" cy="47548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1847088"/>
            <a:ext cx="2980944" cy="411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Why comb_10sym over dense_4sym?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783080"/>
            <a:ext cx="5266944" cy="47548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7" y="1847088"/>
            <a:ext cx="5175504" cy="411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J₀=0.84 at 43 µs — strong correlation every symbol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286000"/>
            <a:ext cx="3072384" cy="47548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350008"/>
            <a:ext cx="2980944" cy="411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How does Wiener smoother work?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2286000"/>
            <a:ext cx="5266944" cy="47548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38727" y="2350008"/>
            <a:ext cx="5175504" cy="411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 = R_HH(R_HH+σ²I)⁻¹, Jakes-shaped low-pass in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788920"/>
            <a:ext cx="3072384" cy="47548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2852928"/>
            <a:ext cx="2980944" cy="411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How does ICI cancellation work?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2788920"/>
            <a:ext cx="5266944" cy="47548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38727" y="2852928"/>
            <a:ext cx="5175504" cy="411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Estimate channel slope dH; subtract Σ dH·w(Δk)·X_dec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291840"/>
            <a:ext cx="3072384" cy="47548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3355848"/>
            <a:ext cx="2980944" cy="411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If CFO jumped to 20 kHz, what breaks?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3291840"/>
            <a:ext cx="5266944" cy="47548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38727" y="3355848"/>
            <a:ext cx="5175504" cy="411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Van de Beek range ±15 kHz → ambiguous estimate → all blocks fail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794760"/>
            <a:ext cx="3072384" cy="47548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3858768"/>
            <a:ext cx="2980944" cy="411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Why not MMSE equalizer?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3794760"/>
            <a:ext cx="5266944" cy="47548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38727" y="3858768"/>
            <a:ext cx="5175504" cy="4114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σ²→0 because LS absorbs noise — dominant error is interpolation, not noise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